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  <p:sldMasterId id="2147483660" r:id="rId2"/>
  </p:sldMasterIdLst>
  <p:notesMasterIdLst>
    <p:notesMasterId r:id="rId11"/>
  </p:notesMasterIdLst>
  <p:sldIdLst>
    <p:sldId id="256" r:id="rId3"/>
    <p:sldId id="258" r:id="rId4"/>
    <p:sldId id="259" r:id="rId5"/>
    <p:sldId id="260" r:id="rId6"/>
    <p:sldId id="261" r:id="rId7"/>
    <p:sldId id="263" r:id="rId8"/>
    <p:sldId id="264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69" autoAdjust="0"/>
    <p:restoredTop sz="86405" autoAdjust="0"/>
  </p:normalViewPr>
  <p:slideViewPr>
    <p:cSldViewPr snapToGrid="0">
      <p:cViewPr varScale="1">
        <p:scale>
          <a:sx n="63" d="100"/>
          <a:sy n="63" d="100"/>
        </p:scale>
        <p:origin x="780" y="72"/>
      </p:cViewPr>
      <p:guideLst/>
    </p:cSldViewPr>
  </p:slideViewPr>
  <p:outlineViewPr>
    <p:cViewPr>
      <p:scale>
        <a:sx n="33" d="100"/>
        <a:sy n="33" d="100"/>
      </p:scale>
      <p:origin x="0" y="-1380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71" d="100"/>
        <a:sy n="171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C718D9-2C87-4814-8471-598F3A0B7D9E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5B0CAE-C226-4F50-9E29-280196DA20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9572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1D29E-F25E-8C11-FFB2-F28F759D1C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FF9AC2-AE4C-743F-700C-CC4F84B551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505DD-7DF7-A775-D260-BFD520F57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D1C6D-64A9-4E2D-9A6C-E91105B63EC9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772C7F-8CD7-CD94-5BA9-0BCC99176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92D78-721F-9EE6-66F7-E8EDCF854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8162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18093-6C17-8A61-42D8-345663606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C9D36-4D9D-1891-1E2C-0EDA7F1D1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4A7E9-678D-EE42-61A7-D99A43289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90065-3C61-4839-BF62-6C1FD32A9DEF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4EC84-CBE3-9F27-7C4B-DA2692739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B330-4390-F24D-BBB6-9BF0BB1C4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9110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F9B01-C387-F637-61A4-F7953D561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8B131-BDC5-30E1-6A46-7C38972EAD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2E0B2-7BB0-CFAA-A082-0C1005B8D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1F9F72-8D0A-4C05-9342-DF72BE5EC6CB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BA5427-082F-E236-4DA8-4B46F775F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32DE9-D8A3-4BD6-2B84-597CE06A6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1469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36EEC-535D-A316-D059-7EEA6F56A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52D11-870F-156A-47D0-901FF0320F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DF2A60-54FC-48F2-03F3-664116C8C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F658A8-D795-2C75-5E01-EADE443A5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A39C3-845A-43B9-BEFB-7A236C2A4F79}" type="datetime1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975937-A02A-E114-E57C-BC4737DCD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438C50-4647-D110-CE11-6A4379F5C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4212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CE825-11A4-E7E2-3AB4-87AF48C18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806DD9-9550-19B1-826D-E192840A78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85D96A-267C-46CB-AC28-F56230896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0431BD-DE8F-7B14-EA20-07DC262FD1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D80579-6B49-B05C-10C5-0A1F35289F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4BAE99-0E1D-0381-D6B2-116928D7A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BE9B0-62DA-46AB-B07C-33A6CC14DBE0}" type="datetime1">
              <a:rPr lang="en-IN" smtClean="0"/>
              <a:t>25-12-2025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58CB98-633E-2A48-F154-44081EE5E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7A85D7-78E9-DC16-0472-4E7C06C68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5744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959FF-2D9D-3DB5-44D0-5CD292EA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76FB5B-D07F-A840-1E12-504A496A0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99EF7-647C-46B2-B1BC-7C7B1B904BC0}" type="datetime1">
              <a:rPr lang="en-IN" smtClean="0"/>
              <a:t>25-12-2025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9B7938-0BE8-FD40-B543-9A6151959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3D3BFE-C886-94B9-3871-FFA43010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4113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4588E3-1269-156A-5F80-7D1F7B80B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77DA7-96CC-40A9-B14D-4B9D7065EBC1}" type="datetime1">
              <a:rPr lang="en-IN" smtClean="0"/>
              <a:t>25-12-2025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D8526B-8058-67D8-946B-387ECDFDF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9C915-A9C6-0448-F18E-B3CAEDBC0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5313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83CBF-84A3-706D-B0E6-12D0AE64B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79363-856C-91C5-1D99-46EFAF23E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6932F5-BE0A-6F1F-3AF5-DCF8B4915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48AC36-8D7A-E995-56B4-075A6C061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3700-E7A2-4513-89D6-336D202C5B31}" type="datetime1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D3AB7D-53CF-6CF4-293B-81F583A1E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381DE-099E-5870-CE47-D29AD3F2E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7353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01118-B665-9D9A-05D8-BA130F630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4106D8-5A55-653A-9FE0-6C7AD7E12A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B64113-4C4C-76B1-67AD-ECF80CA1B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F2F240-1D82-2A98-D5AB-D9E67CE0A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400B8-A844-477B-AC8D-F8435E419499}" type="datetime1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7123B0-5AB8-F168-6E59-0FB83B3F4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B54763-50BB-440E-71CA-09D4B198F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0560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40BD2-0FC9-574E-5CB1-B69182E7D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C0FBB4-7AD7-F787-3FA7-10A9BE1024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5D17D-6108-CFFF-3577-9104AAB95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E0DA8-2651-4482-A0A2-AFA6C595E0B7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884102-A8A3-8571-CFC1-8482501E1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4F63-5ADA-6671-7E6B-A58C54595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9024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7E5929-A32E-7318-28BB-9DBC45719D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39276C-F873-3F7F-1E18-073DEF088A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B5A34F-1C0C-7D40-CEE9-F48DBDB4D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FC59C5-25AD-40A2-B8B6-710A7403660D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42C68-CEE8-C144-02A7-5FE805743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1425B-6D9F-3592-9156-506AC43A6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7292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6554D-72E5-FF3C-08C3-1AEBA40723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AE9148-0D69-CBFE-DE91-4D83691C7E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EC11C-9A3F-941D-9EB6-3B3206A42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FAF5D-0002-429C-B0C5-8EE1E95ADF60}" type="datetime1">
              <a:rPr lang="en-IN" smtClean="0"/>
              <a:t>25-12-2025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8B255-8215-53B8-021F-E8511E0C9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A8D402-EF68-63C6-4CC4-2962E73E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38108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121B5-C4FA-06AB-484C-CE984830B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4DE9C-170A-030B-D268-8313D6C570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4BF913-EE8E-F94F-AF9F-695E7FFF3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09A6EE-35CB-4C55-BD57-77600E238904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94924-4F4F-50AD-F023-E390CCFC7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91583-C5A2-CFCC-2688-5F1FD2042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40787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BF7BC-7BAC-F239-62BF-036E23735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F8E37-7370-BA5A-071F-94116C867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04C80-64C3-2FE1-3C66-DC262BDEA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31A59-5885-47CE-A56F-31BBD2ED4A81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94D8F8-D0D7-D63F-EE8F-BA7C6A3BD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D6B03-E92E-891C-EBEE-F70F4418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99781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8ED70-E37F-8174-FF58-D19B46873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6DC54-D7C2-3A7D-0445-2D6C3E1B67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4AA53A-478F-B35E-786F-D2DE42A912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E85777-9587-214E-BF4E-1702194B0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71A6C9-A2A6-47CD-824A-3864682612D8}" type="datetime1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6EE073-9E6E-687B-7729-7C28A244F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6FC47E-08E4-788E-95F5-810956029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80349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C047C-C252-2BF4-24AC-A1B48EF7A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18038-0AF9-2028-F20C-AB1C23CE2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E55B30-1E4C-7ABF-6843-4080015A4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C2614F-97E2-6536-A9DA-4E50150303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013DEB-D91D-0DFA-C983-0D018D5C77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06073C-2AE5-0E85-D462-71023F374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DF4A07-182A-4523-9400-45AF01FFCFA7}" type="datetime1">
              <a:rPr lang="en-IN" smtClean="0"/>
              <a:t>25-12-2025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2046B8-9287-D587-B2EF-B6F4C79CD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04DA3B-7133-28FC-B572-84C1F1870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22161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8BA1B-E667-2A7F-9718-D1DDE8E58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0D3AC8-F359-568E-D9B3-004D233B2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D7BA3-CFC4-4702-BC50-593A513A0209}" type="datetime1">
              <a:rPr lang="en-IN" smtClean="0"/>
              <a:t>25-12-2025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473C6-8812-47C2-9624-05FCCAB5D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D8C9C-15BD-79A0-1015-82A8EC65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71961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61AC6A-FEF5-BE13-6136-27A92F08F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F84AA-5082-4373-AD01-1489AA108879}" type="datetime1">
              <a:rPr lang="en-IN" smtClean="0"/>
              <a:t>25-12-2025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84AA0-3A69-D1F6-2E1F-4A93765E2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EC788-52FA-F73B-D1F2-641CD2998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8524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C76AA-5F49-9033-B7D6-3AD3E8EF2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0B6CF-9328-4A2F-FF0D-EFDAFABB2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9617FD-DAC5-62CE-7145-13232C105E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BE6CCF-39ED-3B5B-8B9D-4CD7AF485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1921A-33A5-44B8-8CE1-DF8DE646E4D6}" type="datetime1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B774B-BA69-CE17-B943-2B0ED1862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52E8C-5B1F-7A2D-AFCD-4A169139B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78981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01A47-D08C-A01E-A030-862A11451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6B15E8-6EAC-43B0-6A57-9B0FFFBE0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D5617-C24C-1761-9089-99DECDFC01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73ADB-2E07-2E8A-3911-2F7D6E475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8FC35-AEDD-49BF-AE2C-325672DF1847}" type="datetime1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9B9823-08EF-47B4-BEDB-C993F62BA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7C96C1-4F3E-E26D-76FB-9BEA75A60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66301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0F24B-675C-9AFE-32B9-55543784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432006-14F9-7DF8-71D2-C1E91D5E76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B02B3-7A4F-9E52-0F17-B6FFF9205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70672-32A4-47E7-9497-9F5CB1C3C59E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71F9CF-F5B7-D532-1C8C-947A8FDD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88794-9A3B-E7CB-75EB-D8AC66CD4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23417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4D6F41-6F39-007C-FE52-DBAB8D40AB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0D8841-0CCE-A262-F072-0711BF7291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FF86B-82F2-2228-A726-2F8954AB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8EDF0-2D2A-4441-B0F4-25DD1E88333E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C014B-B965-C9BC-4A9F-383C2BAC3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D94EA-D922-327D-F294-35D87D8C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13108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B4456-ED9E-354E-C595-AD02D8B90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7C16DD-8AE7-A6B9-ECEA-42442602A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9AC1A-A558-4C8B-AB6D-938DF87C7B21}" type="datetime1">
              <a:rPr lang="en-IN" smtClean="0"/>
              <a:t>25-12-2025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297A28-0B41-6F74-469D-B46287FA4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C376C1-E61E-ED47-7A9E-865702651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12B8E9-AAFC-44D3-B92E-D5D0BFCC5072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Picture 5" descr="Logo&#10;&#10;Description automatically generated">
            <a:extLst>
              <a:ext uri="{FF2B5EF4-FFF2-40B4-BE49-F238E27FC236}">
                <a16:creationId xmlns:a16="http://schemas.microsoft.com/office/drawing/2014/main" id="{E020C069-4D8F-8B72-9D37-04C0A3CDC7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42" y="136525"/>
            <a:ext cx="1453515" cy="859155"/>
          </a:xfrm>
          <a:prstGeom prst="rect">
            <a:avLst/>
          </a:prstGeom>
        </p:spPr>
      </p:pic>
      <p:pic>
        <p:nvPicPr>
          <p:cNvPr id="7" name="Picture 6" descr="A picture containing text, font, logo, symbol&#10;&#10;Description automatically generated">
            <a:extLst>
              <a:ext uri="{FF2B5EF4-FFF2-40B4-BE49-F238E27FC236}">
                <a16:creationId xmlns:a16="http://schemas.microsoft.com/office/drawing/2014/main" id="{93868805-79F0-D4E2-BDEA-B026B90DB7B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0776" y="410464"/>
            <a:ext cx="1146048" cy="58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383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5CA9EC-C2BD-CF3D-5A20-8098B0BF1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8EB5F-9184-E626-5F82-874D156FF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C0F09-C3DE-2703-E0DC-512FD14AA4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447CD2-85B9-4037-8D99-9B029080F3C1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50A2-6280-2FB5-BD50-7B03008B6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AB145-0A1E-5E75-9F26-995BFCDD38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776409-3411-4534-8D12-35FE24735A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6522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3C5341-81D3-444C-1940-8A61E6895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FBD361-4C90-8D9C-A080-2ACD105E52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1F2B3-823B-DAF2-74E0-264333210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FC714-A3AB-4562-85D8-8980BF3275E7}" type="datetime1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31FAD-9204-8BF4-B53E-BA30C70D24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Team 4: Sliding bearings in gearboxes of WEC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102ED-8173-4208-A948-EA1F221E10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687761-FC87-4A57-BD27-270B4C7228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011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nayxa.com/wind-farm-layout-design/" TargetMode="Externa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wind-energie.de/english/statistics/statistics-germany/" TargetMode="Externa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wind-energie.de/english/statistics/statistics-germany/" TargetMode="Externa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vecteezy.com/free-photos/machine-learning" TargetMode="External"/><Relationship Id="rId4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en.wind-turbine-models.com/turbines/693-vestas-v112-3.3" TargetMode="External"/><Relationship Id="rId4" Type="http://schemas.openxmlformats.org/officeDocument/2006/relationships/hyperlink" Target="https://www.nsenergybusiness.com/projects/reusenkoge-wind-farm-expansion/?cf-vie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D3F108-3889-1AFC-C5E1-8B6FE8EAF83B}"/>
              </a:ext>
            </a:extLst>
          </p:cNvPr>
          <p:cNvSpPr txBox="1"/>
          <p:nvPr/>
        </p:nvSpPr>
        <p:spPr>
          <a:xfrm>
            <a:off x="957580" y="1827074"/>
            <a:ext cx="10276840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/>
              <a:t>Power Prediction and Energy Arbitrage Modeling for Wind Farms Using ML</a:t>
            </a:r>
            <a:br>
              <a:rPr lang="de-DE" sz="2000" dirty="0">
                <a:solidFill>
                  <a:sysClr val="windowText" lastClr="000000"/>
                </a:solidFill>
              </a:rPr>
            </a:br>
            <a:endParaRPr lang="de-DE" sz="2000" dirty="0">
              <a:solidFill>
                <a:sysClr val="windowText" lastClr="0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BBDE80-052B-9938-EE8E-D8C81054A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4966" y="-15371"/>
            <a:ext cx="2511357" cy="14126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DA25377-8F1B-6CC9-C9F9-D4370AC2B364}"/>
              </a:ext>
            </a:extLst>
          </p:cNvPr>
          <p:cNvSpPr/>
          <p:nvPr/>
        </p:nvSpPr>
        <p:spPr>
          <a:xfrm>
            <a:off x="0" y="6312310"/>
            <a:ext cx="12192000" cy="54569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E5401818-DADF-A3EF-A208-4BB4A83D8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DD33B-839B-46E7-86F0-3CE0E6C0AEB2}" type="datetime1">
              <a:rPr lang="en-IN" smtClean="0">
                <a:solidFill>
                  <a:schemeClr val="tx1"/>
                </a:solidFill>
              </a:rPr>
              <a:t>25-12-2025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1C5D4C0-8C57-26A1-92CC-80DF52DF5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1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CCFC601-C2B2-20C3-33B2-D13041626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67380" y="642758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AAA9F7-8A1D-7093-952D-E9D80417CA80}"/>
              </a:ext>
            </a:extLst>
          </p:cNvPr>
          <p:cNvSpPr txBox="1"/>
          <p:nvPr/>
        </p:nvSpPr>
        <p:spPr>
          <a:xfrm>
            <a:off x="9001275" y="4764139"/>
            <a:ext cx="290067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Date :</a:t>
            </a:r>
            <a:r>
              <a:rPr lang="en-GB" sz="2800" dirty="0"/>
              <a:t> 06.01.2026</a:t>
            </a:r>
          </a:p>
          <a:p>
            <a:r>
              <a:rPr lang="en-GB" sz="2800" b="1" dirty="0"/>
              <a:t>Place: </a:t>
            </a:r>
            <a:r>
              <a:rPr lang="en-GB" sz="2800" dirty="0"/>
              <a:t>Flensburg</a:t>
            </a:r>
            <a:endParaRPr lang="LID4096" sz="2800" dirty="0"/>
          </a:p>
        </p:txBody>
      </p:sp>
      <p:sp>
        <p:nvSpPr>
          <p:cNvPr id="9" name="AutoShape 2">
            <a:extLst>
              <a:ext uri="{FF2B5EF4-FFF2-40B4-BE49-F238E27FC236}">
                <a16:creationId xmlns:a16="http://schemas.microsoft.com/office/drawing/2014/main" id="{B8269A79-7902-7054-CACC-FE68460FFA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B077FA-9D72-BC9B-C1EA-CB969B56C2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AE99BF6-73FD-FBBD-5656-F39A085CF37C}"/>
              </a:ext>
            </a:extLst>
          </p:cNvPr>
          <p:cNvSpPr txBox="1"/>
          <p:nvPr/>
        </p:nvSpPr>
        <p:spPr>
          <a:xfrm>
            <a:off x="290046" y="4693294"/>
            <a:ext cx="4064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Presented:</a:t>
            </a:r>
          </a:p>
          <a:p>
            <a:r>
              <a:rPr lang="en-US" sz="2800" dirty="0"/>
              <a:t>Karan Soni</a:t>
            </a:r>
          </a:p>
          <a:p>
            <a:r>
              <a:rPr lang="en-US" sz="2800" dirty="0" err="1"/>
              <a:t>Madhvesh</a:t>
            </a:r>
            <a:r>
              <a:rPr lang="en-US" sz="2800" dirty="0"/>
              <a:t> </a:t>
            </a:r>
            <a:r>
              <a:rPr lang="en-US" sz="2800" dirty="0" err="1"/>
              <a:t>Gorakhiya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52200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BB4D4-956D-1466-26FD-01487AF66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Overview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5E179-BA05-BAAE-FBAA-821FCAD3C1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24" y="1333764"/>
            <a:ext cx="10515600" cy="4684116"/>
          </a:xfrm>
        </p:spPr>
        <p:txBody>
          <a:bodyPr>
            <a:noAutofit/>
          </a:bodyPr>
          <a:lstStyle/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Problem Statement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Data and Preprocessing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Flowchart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Machine Learning Models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Hydrogen Storage Concepts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Economic Calculation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Results</a:t>
            </a:r>
          </a:p>
          <a:p>
            <a:pPr marL="342900" indent="-34290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AutoNum type="arabicPeriod"/>
            </a:pPr>
            <a:r>
              <a:rPr lang="en-GB" sz="2000" b="1" kern="100" dirty="0">
                <a:ea typeface="Aptos" panose="020B0004020202020204" pitchFamily="34" charset="0"/>
                <a:cs typeface="Times New Roman" panose="02020603050405020304" pitchFamily="18" charset="0"/>
              </a:rPr>
              <a:t>Conclusion &amp; Future Tasks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045AAC-765E-18B2-22FF-7A7270DED6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825E455-D545-9408-95EE-6339E7D4E11F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4EB1972-A3C9-6302-749B-1625930F1593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880A3791-CA6D-6C49-9727-21EDC4A1F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25-12-2025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153D84A6-A93C-285F-8C5F-F2326EAFD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2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1F23A2F-AAEE-5B14-4019-97D22015A2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22CD3D4E-6453-E4F1-2158-A7B34C8D3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40DE98C-822E-9448-E786-52A8B343FC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3622" y="1277767"/>
            <a:ext cx="6273956" cy="47054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1CE516C-ABFF-9400-E137-739440B22C7E}"/>
              </a:ext>
            </a:extLst>
          </p:cNvPr>
          <p:cNvSpPr txBox="1"/>
          <p:nvPr/>
        </p:nvSpPr>
        <p:spPr>
          <a:xfrm>
            <a:off x="6835544" y="6064959"/>
            <a:ext cx="4297680" cy="244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Reference: </a:t>
            </a:r>
            <a:r>
              <a:rPr lang="en-US" sz="1000" dirty="0">
                <a:hlinkClick r:id="rId5"/>
              </a:rPr>
              <a:t>Wind Farm Layout Design at NAYXA || We´re Wind Energy Experts</a:t>
            </a:r>
            <a:endParaRPr lang="en-DE" sz="1000" dirty="0"/>
          </a:p>
        </p:txBody>
      </p:sp>
    </p:spTree>
    <p:extLst>
      <p:ext uri="{BB962C8B-B14F-4D97-AF65-F5344CB8AC3E}">
        <p14:creationId xmlns:p14="http://schemas.microsoft.com/office/powerpoint/2010/main" val="4238653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BB4D4-956D-1466-26FD-01487AF66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1. Introduction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045AAC-765E-18B2-22FF-7A7270DED6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825E455-D545-9408-95EE-6339E7D4E11F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4EB1972-A3C9-6302-749B-1625930F1593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880A3791-CA6D-6C49-9727-21EDC4A1F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25-12-2025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153D84A6-A93C-285F-8C5F-F2326EAFD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3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1F23A2F-AAEE-5B14-4019-97D22015A2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22CD3D4E-6453-E4F1-2158-A7B34C8D3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35CBCE9-9C6F-5D86-993A-39BA0591DD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91275"/>
            <a:ext cx="6607810" cy="14276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DE" sz="2000" b="1" dirty="0"/>
              <a:t>Wind Energy: </a:t>
            </a:r>
            <a:r>
              <a:rPr lang="en-US" altLang="en-DE" sz="2000" dirty="0"/>
              <a:t>O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ne of the fastest‑growing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(Germany)</a:t>
            </a:r>
            <a:endParaRPr kumimoji="0" lang="en-DE" altLang="en-DE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DE" sz="2000" dirty="0"/>
              <a:t>W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 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power</a:t>
            </a:r>
            <a:r>
              <a:rPr lang="en-US" altLang="en-DE" sz="2000" dirty="0"/>
              <a:t> (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variable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sym typeface="Wingdings" panose="05000000000000000000" pitchFamily="2" charset="2"/>
              </a:rPr>
              <a:t>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wind speeds 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change</a:t>
            </a:r>
            <a:r>
              <a:rPr kumimoji="0" lang="en-US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</a:p>
          <a:p>
            <a:pPr marL="342900" indent="-34290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DE" altLang="en-DE" sz="2000" dirty="0"/>
              <a:t>Electricity markets</a:t>
            </a:r>
            <a:r>
              <a:rPr lang="en-US" altLang="en-DE" sz="2000" dirty="0"/>
              <a:t> (</a:t>
            </a:r>
            <a:r>
              <a:rPr lang="en-DE" altLang="en-DE" sz="2000" dirty="0"/>
              <a:t>fluctuate</a:t>
            </a:r>
            <a:r>
              <a:rPr lang="en-US" altLang="en-DE" sz="2000" dirty="0"/>
              <a:t>) </a:t>
            </a:r>
            <a:r>
              <a:rPr lang="en-US" altLang="en-DE" sz="2000" dirty="0">
                <a:sym typeface="Wingdings" panose="05000000000000000000" pitchFamily="2" charset="2"/>
              </a:rPr>
              <a:t> Wind</a:t>
            </a:r>
            <a:r>
              <a:rPr lang="en-US" altLang="en-DE" sz="2000" dirty="0"/>
              <a:t> </a:t>
            </a:r>
            <a:r>
              <a:rPr lang="en-DE" altLang="en-DE" sz="2000" dirty="0"/>
              <a:t>production </a:t>
            </a:r>
            <a:r>
              <a:rPr lang="en-US" altLang="en-DE" sz="2000" dirty="0"/>
              <a:t>(</a:t>
            </a:r>
            <a:r>
              <a:rPr lang="en-DE" altLang="en-DE" sz="2000" dirty="0"/>
              <a:t>high</a:t>
            </a:r>
            <a:r>
              <a:rPr lang="en-US" altLang="en-DE" sz="2000" dirty="0"/>
              <a:t>)</a:t>
            </a:r>
            <a:endParaRPr lang="en-DE" altLang="en-DE" sz="2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94625B-75B8-7781-67EB-E86610A21C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4776" y="2636607"/>
            <a:ext cx="8831126" cy="351073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4024844-8E63-C2FA-FF18-C027A081B2F8}"/>
              </a:ext>
            </a:extLst>
          </p:cNvPr>
          <p:cNvSpPr txBox="1"/>
          <p:nvPr/>
        </p:nvSpPr>
        <p:spPr>
          <a:xfrm>
            <a:off x="6384290" y="1240156"/>
            <a:ext cx="580771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Modern energy systems increasingly use </a:t>
            </a:r>
            <a:r>
              <a:rPr kumimoji="0" lang="en-DE" altLang="en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data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n-DE" altLang="en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machine learning</a:t>
            </a:r>
            <a:r>
              <a:rPr kumimoji="0" lang="en-US" altLang="en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DE" altLang="en-DE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improve forecasting</a:t>
            </a:r>
            <a:endParaRPr lang="en-US" altLang="en-DE" dirty="0"/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DE" altLang="en-DE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operational decisions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FC2744-69A7-0F46-5D5C-9D38E33B62D9}"/>
              </a:ext>
            </a:extLst>
          </p:cNvPr>
          <p:cNvSpPr txBox="1"/>
          <p:nvPr/>
        </p:nvSpPr>
        <p:spPr>
          <a:xfrm>
            <a:off x="5078730" y="6110128"/>
            <a:ext cx="24079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Reference: </a:t>
            </a:r>
            <a:r>
              <a:rPr lang="en-US" sz="1000" dirty="0">
                <a:hlinkClick r:id="rId5"/>
              </a:rPr>
              <a:t>Statistics Germany | BWE </a:t>
            </a:r>
            <a:r>
              <a:rPr lang="en-US" sz="1000" dirty="0" err="1">
                <a:hlinkClick r:id="rId5"/>
              </a:rPr>
              <a:t>e.V.</a:t>
            </a:r>
            <a:endParaRPr lang="en-DE" sz="1000" dirty="0"/>
          </a:p>
        </p:txBody>
      </p:sp>
    </p:spTree>
    <p:extLst>
      <p:ext uri="{BB962C8B-B14F-4D97-AF65-F5344CB8AC3E}">
        <p14:creationId xmlns:p14="http://schemas.microsoft.com/office/powerpoint/2010/main" val="19345603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26081-5932-C9F1-06E4-779A6D546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43946-DC6C-2552-7DB6-CF2578838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2. Problem Statements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FC1032-A54B-5280-52D4-C30F49612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B0D149F-BEFB-EAC5-7FD6-E0946370783A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7E10AA9-338C-EE8D-9624-F20E0277468D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98F3D080-1FC2-4E05-2D85-F0FDCD25D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25-12-2025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52A681BA-9E65-EB34-2686-5A0D9C6E1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4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ACF29A-EA12-6B19-6E0C-12F3B95DF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DD971CEB-D785-B9FD-BA3A-7C0F79948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472D22C-3ED7-68F0-1F26-FFAB053076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628" y="1307601"/>
            <a:ext cx="3295526" cy="281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Wind power output changes every hour → difficult to predict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Electricity prices fluctuate strongly → revenue is uncertain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2FBAEA8-1C6B-A2C4-AE13-11F3C80A6C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1277765"/>
            <a:ext cx="8488787" cy="318442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D14CE10-4B65-C8EB-F77D-8797F06A0355}"/>
              </a:ext>
            </a:extLst>
          </p:cNvPr>
          <p:cNvSpPr txBox="1"/>
          <p:nvPr/>
        </p:nvSpPr>
        <p:spPr>
          <a:xfrm>
            <a:off x="176628" y="4694458"/>
            <a:ext cx="9052830" cy="1429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Selling at the wrong time reduces profit for wind‑farm operators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Hard to know when storing energy will be more profitable than selling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 </a:t>
            </a:r>
            <a:r>
              <a:rPr kumimoji="0" lang="en-DE" altLang="en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data‑driven ML model</a:t>
            </a:r>
            <a:r>
              <a:rPr kumimoji="0" lang="en-DE" altLang="en-DE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is needed to support STORE vs SELL decisions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D82A6A-E43D-7D46-91A2-9475D0E9A466}"/>
              </a:ext>
            </a:extLst>
          </p:cNvPr>
          <p:cNvSpPr txBox="1"/>
          <p:nvPr/>
        </p:nvSpPr>
        <p:spPr>
          <a:xfrm>
            <a:off x="6077465" y="4436096"/>
            <a:ext cx="48158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Fig 2.1: Day Vs Power generation (MW) </a:t>
            </a:r>
            <a:r>
              <a:rPr lang="en-US" sz="1200" u="sng" dirty="0">
                <a:solidFill>
                  <a:schemeClr val="accent1"/>
                </a:solidFill>
              </a:rPr>
              <a:t>(</a:t>
            </a:r>
            <a:r>
              <a:rPr lang="en-US" sz="1200" u="sng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Own)</a:t>
            </a:r>
            <a:r>
              <a:rPr lang="en-US" sz="1000" u="sng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en-DE" sz="1000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6490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56B9D-E4E8-6AD3-EDC1-677ECE9B1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F0B0D-8D95-7191-FD40-4E436B625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3. Data and Preprocessing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8E7B8B-24EF-A5F8-CEE1-8310DE930E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7331460-B780-1483-7890-88FD81121B0A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EE0E1E4-C63F-9EBD-CCB2-39D5C23AFB89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9F724A00-5956-B4B5-E284-226F59D4A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25-12-2025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97495ED1-1C1F-9178-CB4A-7F1F13502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5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6BF284-5890-E915-CC5D-B4CDE76197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7BC0B0A6-B864-F840-F2CC-C6E16F2C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C21595-AC88-1411-6729-3D538F539813}"/>
              </a:ext>
            </a:extLst>
          </p:cNvPr>
          <p:cNvSpPr txBox="1"/>
          <p:nvPr/>
        </p:nvSpPr>
        <p:spPr>
          <a:xfrm>
            <a:off x="229098" y="1308460"/>
            <a:ext cx="4861062" cy="3183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2400" b="1" dirty="0">
                <a:effectLst/>
              </a:rPr>
              <a:t>Wind Data (ERA5):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b="1" dirty="0"/>
              <a:t>Reference: </a:t>
            </a:r>
            <a:endParaRPr lang="en-US" sz="2000" b="1" dirty="0">
              <a:effectLst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Used ERA5 reanalysis dataset for wind components (</a:t>
            </a:r>
            <a:r>
              <a:rPr lang="en-US" sz="2000" b="1" dirty="0">
                <a:effectLst/>
              </a:rPr>
              <a:t>u100</a:t>
            </a:r>
            <a:r>
              <a:rPr lang="en-US" sz="2000" dirty="0">
                <a:effectLst/>
              </a:rPr>
              <a:t>, </a:t>
            </a:r>
            <a:r>
              <a:rPr lang="en-US" sz="2000" b="1" dirty="0">
                <a:effectLst/>
              </a:rPr>
              <a:t>v100</a:t>
            </a:r>
            <a:r>
              <a:rPr lang="en-US" sz="2000" dirty="0">
                <a:effectLst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Calculated wind speed at </a:t>
            </a:r>
            <a:r>
              <a:rPr lang="en-US" sz="2000" b="1" dirty="0">
                <a:effectLst/>
              </a:rPr>
              <a:t>100m</a:t>
            </a:r>
            <a:endParaRPr lang="en-US" sz="2000" dirty="0">
              <a:effectLst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Converted to a clean CSV file </a:t>
            </a:r>
            <a:r>
              <a:rPr lang="en-US" sz="2000" b="1" dirty="0">
                <a:effectLst/>
              </a:rPr>
              <a:t>(wind_speed.csv)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488FEA-317D-D4BD-84D7-9609D8E004DF}"/>
              </a:ext>
            </a:extLst>
          </p:cNvPr>
          <p:cNvSpPr txBox="1"/>
          <p:nvPr/>
        </p:nvSpPr>
        <p:spPr>
          <a:xfrm>
            <a:off x="5090160" y="1214302"/>
            <a:ext cx="6776720" cy="1798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effectLst/>
              </a:rPr>
              <a:t>2. Electricity Price Data: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b="1" dirty="0">
                <a:effectLst/>
              </a:rPr>
              <a:t>Reference: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Imported </a:t>
            </a:r>
            <a:r>
              <a:rPr lang="en-US" sz="2000" b="1" dirty="0"/>
              <a:t>sport</a:t>
            </a:r>
            <a:r>
              <a:rPr lang="en-US" sz="2000" b="1" dirty="0">
                <a:effectLst/>
              </a:rPr>
              <a:t> market prices</a:t>
            </a:r>
            <a:r>
              <a:rPr lang="en-US" sz="2000" dirty="0">
                <a:effectLst/>
              </a:rPr>
              <a:t> (</a:t>
            </a:r>
            <a:r>
              <a:rPr lang="en-US" sz="2000" dirty="0"/>
              <a:t>EUR/MW</a:t>
            </a:r>
            <a:r>
              <a:rPr lang="en-US" sz="2000" dirty="0">
                <a:effectLst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Cleaned timestamps and extracted </a:t>
            </a:r>
            <a:r>
              <a:rPr lang="en-US" sz="2000" b="1" dirty="0">
                <a:effectLst/>
              </a:rPr>
              <a:t>hour</a:t>
            </a:r>
            <a:r>
              <a:rPr lang="en-US" sz="2000" dirty="0">
                <a:effectLst/>
              </a:rPr>
              <a:t> and </a:t>
            </a:r>
            <a:r>
              <a:rPr lang="en-US" sz="2000" b="1" dirty="0">
                <a:effectLst/>
              </a:rPr>
              <a:t>month</a:t>
            </a:r>
            <a:endParaRPr lang="en-US" sz="2000" dirty="0">
              <a:effectLst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70F4D4-8E00-6210-47DE-9CA7E3739DDC}"/>
              </a:ext>
            </a:extLst>
          </p:cNvPr>
          <p:cNvSpPr txBox="1"/>
          <p:nvPr/>
        </p:nvSpPr>
        <p:spPr>
          <a:xfrm>
            <a:off x="5090160" y="3229106"/>
            <a:ext cx="6217920" cy="2445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effectLst/>
              </a:rPr>
              <a:t>3. Power Curve Processing: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Location: </a:t>
            </a:r>
            <a:r>
              <a:rPr lang="en-US" sz="2000" b="1" dirty="0" err="1"/>
              <a:t>Reusenkoog</a:t>
            </a:r>
            <a:r>
              <a:rPr lang="en-US" sz="2000" b="1" dirty="0"/>
              <a:t>, Germany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/>
              <a:t>Scaled for </a:t>
            </a:r>
            <a:r>
              <a:rPr lang="en-US" sz="2000" b="1" dirty="0"/>
              <a:t>51 turbines</a:t>
            </a:r>
            <a:r>
              <a:rPr lang="en-US" sz="2000" dirty="0"/>
              <a:t> (total farm capacity) </a:t>
            </a:r>
            <a:r>
              <a:rPr lang="en-US" sz="2000" b="1" dirty="0">
                <a:solidFill>
                  <a:schemeClr val="accent1"/>
                </a:solidFill>
              </a:rPr>
              <a:t>(1)</a:t>
            </a:r>
            <a:endParaRPr lang="en-US" sz="2000" b="1" dirty="0">
              <a:solidFill>
                <a:schemeClr val="accent1"/>
              </a:solidFill>
              <a:effectLst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Used </a:t>
            </a:r>
            <a:r>
              <a:rPr lang="en-US" sz="2000" b="1" dirty="0">
                <a:effectLst/>
              </a:rPr>
              <a:t>Vestas V112‑3.3 MW</a:t>
            </a:r>
            <a:r>
              <a:rPr lang="en-US" sz="2000" dirty="0">
                <a:effectLst/>
              </a:rPr>
              <a:t> turbine power curve </a:t>
            </a:r>
            <a:r>
              <a:rPr lang="en-US" sz="2000" b="1" dirty="0">
                <a:solidFill>
                  <a:schemeClr val="accent1"/>
                </a:solidFill>
              </a:rPr>
              <a:t>(2)</a:t>
            </a:r>
            <a:endParaRPr lang="en-US" sz="2000" dirty="0">
              <a:effectLst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effectLst/>
              </a:rPr>
              <a:t>Converted wind speed → power 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695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A1613-9B75-4CBB-D37A-691710DAB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10B81-4490-C917-4EDE-6C9C9290F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4. Flowchart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68AA75-D1F9-9C23-2239-A5D0DF1539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2342695-38DD-FCF4-74CA-12E2DA78F67E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B13251A-1339-7643-59D2-BB0B5EE5D116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C1D55B74-F352-0217-CCC0-2FEB98794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C3DF7DE-23C3-17FE-1253-A7E59E498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6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E0325E-3499-954A-04D5-D1DE41E6B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00188286-C376-0B51-8627-5B0211C80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948B291B-4DB2-5764-6C94-CA3B6993545D}"/>
              </a:ext>
            </a:extLst>
          </p:cNvPr>
          <p:cNvSpPr/>
          <p:nvPr/>
        </p:nvSpPr>
        <p:spPr>
          <a:xfrm>
            <a:off x="426721" y="1512641"/>
            <a:ext cx="995680" cy="640080"/>
          </a:xfrm>
          <a:prstGeom prst="flowChartConnector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  <a:endParaRPr lang="en-DE" dirty="0"/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7DBDB01F-0566-119C-1195-AC94F1A2B62F}"/>
              </a:ext>
            </a:extLst>
          </p:cNvPr>
          <p:cNvSpPr/>
          <p:nvPr/>
        </p:nvSpPr>
        <p:spPr>
          <a:xfrm>
            <a:off x="1825283" y="1316128"/>
            <a:ext cx="2288540" cy="1046989"/>
          </a:xfrm>
          <a:prstGeom prst="flowChartAlternate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wind data, Finding wind speed &amp; Save CSV file </a:t>
            </a:r>
            <a:endParaRPr lang="en-DE" dirty="0"/>
          </a:p>
        </p:txBody>
      </p:sp>
      <p:sp>
        <p:nvSpPr>
          <p:cNvPr id="15" name="Flowchart: Alternate Process 14">
            <a:extLst>
              <a:ext uri="{FF2B5EF4-FFF2-40B4-BE49-F238E27FC236}">
                <a16:creationId xmlns:a16="http://schemas.microsoft.com/office/drawing/2014/main" id="{3B250FBE-22D2-EDDD-64F7-E7EBB4F3ED6A}"/>
              </a:ext>
            </a:extLst>
          </p:cNvPr>
          <p:cNvSpPr/>
          <p:nvPr/>
        </p:nvSpPr>
        <p:spPr>
          <a:xfrm>
            <a:off x="4557165" y="1318541"/>
            <a:ext cx="1680895" cy="1046988"/>
          </a:xfrm>
          <a:prstGeom prst="flowChartAlternate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market prize data</a:t>
            </a:r>
            <a:endParaRPr lang="en-DE" dirty="0"/>
          </a:p>
        </p:txBody>
      </p:sp>
      <p:sp>
        <p:nvSpPr>
          <p:cNvPr id="16" name="Flowchart: Alternate Process 15">
            <a:extLst>
              <a:ext uri="{FF2B5EF4-FFF2-40B4-BE49-F238E27FC236}">
                <a16:creationId xmlns:a16="http://schemas.microsoft.com/office/drawing/2014/main" id="{703B2D3C-6DC6-A9F0-43A5-74551743547F}"/>
              </a:ext>
            </a:extLst>
          </p:cNvPr>
          <p:cNvSpPr/>
          <p:nvPr/>
        </p:nvSpPr>
        <p:spPr>
          <a:xfrm>
            <a:off x="6835544" y="1316129"/>
            <a:ext cx="2341476" cy="1046988"/>
          </a:xfrm>
          <a:prstGeom prst="flowChartAlternate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Compute form power output based on power curve</a:t>
            </a:r>
            <a:endParaRPr lang="en-DE" dirty="0"/>
          </a:p>
        </p:txBody>
      </p:sp>
      <p:sp>
        <p:nvSpPr>
          <p:cNvPr id="19" name="Flowchart: Alternate Process 18">
            <a:extLst>
              <a:ext uri="{FF2B5EF4-FFF2-40B4-BE49-F238E27FC236}">
                <a16:creationId xmlns:a16="http://schemas.microsoft.com/office/drawing/2014/main" id="{DE615038-333C-B0FB-2466-0C84323116B4}"/>
              </a:ext>
            </a:extLst>
          </p:cNvPr>
          <p:cNvSpPr/>
          <p:nvPr/>
        </p:nvSpPr>
        <p:spPr>
          <a:xfrm>
            <a:off x="9557265" y="1330250"/>
            <a:ext cx="2341476" cy="1046988"/>
          </a:xfrm>
          <a:prstGeom prst="flowChartAlternate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Apply Polynomial &amp; Linear regression ML models</a:t>
            </a:r>
            <a:endParaRPr lang="en-DE" dirty="0"/>
          </a:p>
        </p:txBody>
      </p:sp>
      <p:sp>
        <p:nvSpPr>
          <p:cNvPr id="20" name="Flowchart: Alternate Process 19">
            <a:extLst>
              <a:ext uri="{FF2B5EF4-FFF2-40B4-BE49-F238E27FC236}">
                <a16:creationId xmlns:a16="http://schemas.microsoft.com/office/drawing/2014/main" id="{AAC931A2-9D20-467A-0106-105ABDDA8759}"/>
              </a:ext>
            </a:extLst>
          </p:cNvPr>
          <p:cNvSpPr/>
          <p:nvPr/>
        </p:nvSpPr>
        <p:spPr>
          <a:xfrm>
            <a:off x="9705855" y="3207548"/>
            <a:ext cx="2044296" cy="1046988"/>
          </a:xfrm>
          <a:prstGeom prst="flowChartAlternate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Evaluate or verification of models</a:t>
            </a:r>
            <a:endParaRPr lang="en-DE" dirty="0"/>
          </a:p>
        </p:txBody>
      </p:sp>
      <p:sp>
        <p:nvSpPr>
          <p:cNvPr id="21" name="Flowchart: Alternate Process 20">
            <a:extLst>
              <a:ext uri="{FF2B5EF4-FFF2-40B4-BE49-F238E27FC236}">
                <a16:creationId xmlns:a16="http://schemas.microsoft.com/office/drawing/2014/main" id="{44352169-2481-AB76-6223-99611E4C4CEF}"/>
              </a:ext>
            </a:extLst>
          </p:cNvPr>
          <p:cNvSpPr/>
          <p:nvPr/>
        </p:nvSpPr>
        <p:spPr>
          <a:xfrm>
            <a:off x="6984134" y="3207548"/>
            <a:ext cx="2044296" cy="1046988"/>
          </a:xfrm>
          <a:prstGeom prst="flowChartAlternate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Apply Logistic regression ML model</a:t>
            </a:r>
            <a:endParaRPr lang="en-DE" dirty="0"/>
          </a:p>
        </p:txBody>
      </p:sp>
      <p:sp>
        <p:nvSpPr>
          <p:cNvPr id="22" name="Flowchart: Alternate Process 21">
            <a:extLst>
              <a:ext uri="{FF2B5EF4-FFF2-40B4-BE49-F238E27FC236}">
                <a16:creationId xmlns:a16="http://schemas.microsoft.com/office/drawing/2014/main" id="{A61F81D4-BE55-8C40-0743-62D492D21948}"/>
              </a:ext>
            </a:extLst>
          </p:cNvPr>
          <p:cNvSpPr/>
          <p:nvPr/>
        </p:nvSpPr>
        <p:spPr>
          <a:xfrm>
            <a:off x="4722743" y="3334848"/>
            <a:ext cx="1567956" cy="798883"/>
          </a:xfrm>
          <a:prstGeom prst="flowChartAlternate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Verified model</a:t>
            </a:r>
            <a:endParaRPr lang="en-DE" dirty="0"/>
          </a:p>
        </p:txBody>
      </p:sp>
      <p:sp>
        <p:nvSpPr>
          <p:cNvPr id="23" name="Flowchart: Alternate Process 22">
            <a:extLst>
              <a:ext uri="{FF2B5EF4-FFF2-40B4-BE49-F238E27FC236}">
                <a16:creationId xmlns:a16="http://schemas.microsoft.com/office/drawing/2014/main" id="{0C95882E-CD7B-903C-06F7-203FC2092D01}"/>
              </a:ext>
            </a:extLst>
          </p:cNvPr>
          <p:cNvSpPr/>
          <p:nvPr/>
        </p:nvSpPr>
        <p:spPr>
          <a:xfrm>
            <a:off x="2431663" y="3334848"/>
            <a:ext cx="1567956" cy="7988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Plot graphs</a:t>
            </a:r>
            <a:endParaRPr lang="en-DE" dirty="0"/>
          </a:p>
        </p:txBody>
      </p:sp>
      <p:sp>
        <p:nvSpPr>
          <p:cNvPr id="24" name="Flowchart: Alternate Process 23">
            <a:extLst>
              <a:ext uri="{FF2B5EF4-FFF2-40B4-BE49-F238E27FC236}">
                <a16:creationId xmlns:a16="http://schemas.microsoft.com/office/drawing/2014/main" id="{AAECEAED-8DC4-E619-85C0-0AECD8D195B1}"/>
              </a:ext>
            </a:extLst>
          </p:cNvPr>
          <p:cNvSpPr/>
          <p:nvPr/>
        </p:nvSpPr>
        <p:spPr>
          <a:xfrm>
            <a:off x="155428" y="3329066"/>
            <a:ext cx="1567956" cy="7988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CSV File</a:t>
            </a:r>
            <a:endParaRPr lang="en-DE" dirty="0"/>
          </a:p>
        </p:txBody>
      </p:sp>
      <p:sp>
        <p:nvSpPr>
          <p:cNvPr id="25" name="Flowchart: Alternate Process 24">
            <a:extLst>
              <a:ext uri="{FF2B5EF4-FFF2-40B4-BE49-F238E27FC236}">
                <a16:creationId xmlns:a16="http://schemas.microsoft.com/office/drawing/2014/main" id="{B8174135-FFEA-9327-ACBA-4D6065EF457D}"/>
              </a:ext>
            </a:extLst>
          </p:cNvPr>
          <p:cNvSpPr/>
          <p:nvPr/>
        </p:nvSpPr>
        <p:spPr>
          <a:xfrm>
            <a:off x="55786" y="5021676"/>
            <a:ext cx="1769497" cy="964972"/>
          </a:xfrm>
          <a:prstGeom prst="flowChartAlternateProcess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Compare economical model</a:t>
            </a:r>
            <a:endParaRPr lang="en-DE" dirty="0"/>
          </a:p>
        </p:txBody>
      </p:sp>
      <p:sp>
        <p:nvSpPr>
          <p:cNvPr id="26" name="Flowchart: Alternate Process 25">
            <a:extLst>
              <a:ext uri="{FF2B5EF4-FFF2-40B4-BE49-F238E27FC236}">
                <a16:creationId xmlns:a16="http://schemas.microsoft.com/office/drawing/2014/main" id="{A1038547-10F8-B3E9-2DDF-38F34F066C94}"/>
              </a:ext>
            </a:extLst>
          </p:cNvPr>
          <p:cNvSpPr/>
          <p:nvPr/>
        </p:nvSpPr>
        <p:spPr>
          <a:xfrm>
            <a:off x="2209800" y="5100054"/>
            <a:ext cx="1567956" cy="7988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plots</a:t>
            </a:r>
            <a:endParaRPr lang="en-DE" dirty="0"/>
          </a:p>
        </p:txBody>
      </p: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A01B4F21-B33A-377D-3755-31DF0CB1BD84}"/>
              </a:ext>
            </a:extLst>
          </p:cNvPr>
          <p:cNvSpPr/>
          <p:nvPr/>
        </p:nvSpPr>
        <p:spPr>
          <a:xfrm>
            <a:off x="4661784" y="5188595"/>
            <a:ext cx="995680" cy="640080"/>
          </a:xfrm>
          <a:prstGeom prst="flowChartConnector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Stop</a:t>
            </a:r>
            <a:endParaRPr lang="en-DE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70FB258-945E-62F7-F846-B54B3A5CBC06}"/>
              </a:ext>
            </a:extLst>
          </p:cNvPr>
          <p:cNvCxnSpPr>
            <a:stCxn id="9" idx="6"/>
            <a:endCxn id="12" idx="1"/>
          </p:cNvCxnSpPr>
          <p:nvPr/>
        </p:nvCxnSpPr>
        <p:spPr>
          <a:xfrm>
            <a:off x="1422401" y="1832681"/>
            <a:ext cx="402882" cy="69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2356286-C3D8-F17B-D46D-289D22AA6D26}"/>
              </a:ext>
            </a:extLst>
          </p:cNvPr>
          <p:cNvCxnSpPr>
            <a:stCxn id="12" idx="3"/>
            <a:endCxn id="15" idx="1"/>
          </p:cNvCxnSpPr>
          <p:nvPr/>
        </p:nvCxnSpPr>
        <p:spPr>
          <a:xfrm>
            <a:off x="4113823" y="1839623"/>
            <a:ext cx="443342" cy="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6446554-A7D8-C17D-B72C-2B4B7ED5591E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6238060" y="1839623"/>
            <a:ext cx="597484" cy="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001A3E8-1A60-4CA3-DF0D-72E6A1B2ED26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9177020" y="1839623"/>
            <a:ext cx="380245" cy="141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4F87ED1-CCBB-65AE-70C6-4C837227E54A}"/>
              </a:ext>
            </a:extLst>
          </p:cNvPr>
          <p:cNvCxnSpPr>
            <a:stCxn id="19" idx="2"/>
            <a:endCxn id="20" idx="0"/>
          </p:cNvCxnSpPr>
          <p:nvPr/>
        </p:nvCxnSpPr>
        <p:spPr>
          <a:xfrm>
            <a:off x="10728003" y="2377238"/>
            <a:ext cx="0" cy="830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246BB1A-5C89-338E-A782-AEEB0C95DB9A}"/>
              </a:ext>
            </a:extLst>
          </p:cNvPr>
          <p:cNvCxnSpPr>
            <a:stCxn id="20" idx="1"/>
            <a:endCxn id="21" idx="3"/>
          </p:cNvCxnSpPr>
          <p:nvPr/>
        </p:nvCxnSpPr>
        <p:spPr>
          <a:xfrm flipH="1">
            <a:off x="9028430" y="3731042"/>
            <a:ext cx="6774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B13980E-4A91-27E0-6EE8-4C0374FAB715}"/>
              </a:ext>
            </a:extLst>
          </p:cNvPr>
          <p:cNvCxnSpPr>
            <a:stCxn id="21" idx="1"/>
            <a:endCxn id="22" idx="3"/>
          </p:cNvCxnSpPr>
          <p:nvPr/>
        </p:nvCxnSpPr>
        <p:spPr>
          <a:xfrm flipH="1">
            <a:off x="6290699" y="3731042"/>
            <a:ext cx="693435" cy="3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3F2FDBE-DDD2-CA5E-DF32-3DCD4FBE3855}"/>
              </a:ext>
            </a:extLst>
          </p:cNvPr>
          <p:cNvCxnSpPr>
            <a:stCxn id="22" idx="1"/>
            <a:endCxn id="23" idx="3"/>
          </p:cNvCxnSpPr>
          <p:nvPr/>
        </p:nvCxnSpPr>
        <p:spPr>
          <a:xfrm flipH="1">
            <a:off x="3999619" y="3734290"/>
            <a:ext cx="7231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D3E12DF-8416-393D-888C-D10837911B6E}"/>
              </a:ext>
            </a:extLst>
          </p:cNvPr>
          <p:cNvCxnSpPr>
            <a:stCxn id="23" idx="1"/>
            <a:endCxn id="24" idx="3"/>
          </p:cNvCxnSpPr>
          <p:nvPr/>
        </p:nvCxnSpPr>
        <p:spPr>
          <a:xfrm flipH="1" flipV="1">
            <a:off x="1723384" y="3728508"/>
            <a:ext cx="708279" cy="5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4C329E2-520A-D12A-2AAF-C20593D8CEC9}"/>
              </a:ext>
            </a:extLst>
          </p:cNvPr>
          <p:cNvCxnSpPr>
            <a:stCxn id="24" idx="2"/>
            <a:endCxn id="25" idx="0"/>
          </p:cNvCxnSpPr>
          <p:nvPr/>
        </p:nvCxnSpPr>
        <p:spPr>
          <a:xfrm>
            <a:off x="939406" y="4127949"/>
            <a:ext cx="1129" cy="893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2BA325-1A94-80CE-B027-7004D0B1451C}"/>
              </a:ext>
            </a:extLst>
          </p:cNvPr>
          <p:cNvCxnSpPr>
            <a:stCxn id="25" idx="3"/>
            <a:endCxn id="26" idx="1"/>
          </p:cNvCxnSpPr>
          <p:nvPr/>
        </p:nvCxnSpPr>
        <p:spPr>
          <a:xfrm flipV="1">
            <a:off x="1825283" y="5499496"/>
            <a:ext cx="384517" cy="4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E292733-1859-91C2-301F-9FA4B5FE1A5A}"/>
              </a:ext>
            </a:extLst>
          </p:cNvPr>
          <p:cNvCxnSpPr>
            <a:stCxn id="26" idx="3"/>
            <a:endCxn id="28" idx="2"/>
          </p:cNvCxnSpPr>
          <p:nvPr/>
        </p:nvCxnSpPr>
        <p:spPr>
          <a:xfrm>
            <a:off x="3777756" y="5499496"/>
            <a:ext cx="884028" cy="9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3746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19D3D-ACC3-35FF-8D59-35F513F84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7B026-CC74-1C59-CCA9-5C9684E1B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5. Machine Learning Models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D0EDC2-361F-2DFA-6D01-E559F71660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71E1980-3BA2-0571-E248-0DC584DC9E21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9DC129-1340-3F70-4C94-23A24071FC39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26033DBC-66E8-5E48-D847-25B7C760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26-12-2025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FE37CC7D-1BCC-E5BD-2395-1A5E2C70D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7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6AEC2F-D774-09F5-7B21-A6A59352BA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0DCC4A28-F3F2-2D09-3295-9211A401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9F2E2F-5D44-3E67-CC17-529C1BD9F4DF}"/>
              </a:ext>
            </a:extLst>
          </p:cNvPr>
          <p:cNvSpPr txBox="1"/>
          <p:nvPr/>
        </p:nvSpPr>
        <p:spPr>
          <a:xfrm>
            <a:off x="229098" y="1317341"/>
            <a:ext cx="2011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Why ML?</a:t>
            </a:r>
            <a:endParaRPr lang="en-DE" sz="3600" b="1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940BFA5-1DE1-BDC5-D721-7515B00E77A8}"/>
              </a:ext>
            </a:extLst>
          </p:cNvPr>
          <p:cNvSpPr/>
          <p:nvPr/>
        </p:nvSpPr>
        <p:spPr>
          <a:xfrm>
            <a:off x="1234939" y="2911832"/>
            <a:ext cx="5186182" cy="5571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DE" altLang="en-DE" dirty="0">
                <a:solidFill>
                  <a:schemeClr val="tx1"/>
                </a:solidFill>
              </a:rPr>
              <a:t>Wind power and electricity prices change every hour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82AC912-1F44-0287-F060-F7FDC6A66669}"/>
              </a:ext>
            </a:extLst>
          </p:cNvPr>
          <p:cNvSpPr/>
          <p:nvPr/>
        </p:nvSpPr>
        <p:spPr>
          <a:xfrm>
            <a:off x="1000658" y="2173627"/>
            <a:ext cx="4859216" cy="5571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lnSpc>
                <a:spcPct val="150000"/>
              </a:lnSpc>
              <a:defRPr/>
            </a:pPr>
            <a:r>
              <a:rPr lang="en-DE" altLang="en-DE" dirty="0">
                <a:solidFill>
                  <a:schemeClr val="tx1"/>
                </a:solidFill>
              </a:rPr>
              <a:t>ML helps automate STORE vs SELL decisions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C38BE94-EF75-1C75-B91F-59EC98D41151}"/>
              </a:ext>
            </a:extLst>
          </p:cNvPr>
          <p:cNvSpPr/>
          <p:nvPr/>
        </p:nvSpPr>
        <p:spPr>
          <a:xfrm>
            <a:off x="2354044" y="5117231"/>
            <a:ext cx="6037039" cy="5571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DE" altLang="en-DE" dirty="0">
                <a:solidFill>
                  <a:schemeClr val="tx1"/>
                </a:solidFill>
              </a:rPr>
              <a:t>ML learns from historical data and improves decision accuracy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84D146A-F1BF-1D6E-F4A8-F717A11B2B76}"/>
              </a:ext>
            </a:extLst>
          </p:cNvPr>
          <p:cNvSpPr/>
          <p:nvPr/>
        </p:nvSpPr>
        <p:spPr>
          <a:xfrm>
            <a:off x="1668605" y="3673440"/>
            <a:ext cx="5506926" cy="5571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DE" altLang="en-DE" dirty="0">
                <a:solidFill>
                  <a:schemeClr val="tx1"/>
                </a:solidFill>
              </a:rPr>
              <a:t>Patterns are </a:t>
            </a:r>
            <a:r>
              <a:rPr lang="en-DE" altLang="en-DE" b="1" dirty="0">
                <a:solidFill>
                  <a:schemeClr val="tx1"/>
                </a:solidFill>
              </a:rPr>
              <a:t>non‑linear</a:t>
            </a:r>
            <a:r>
              <a:rPr lang="en-DE" altLang="en-DE" dirty="0">
                <a:solidFill>
                  <a:schemeClr val="tx1"/>
                </a:solidFill>
              </a:rPr>
              <a:t> and difficult to capture manually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B0685D-1502-F43A-ACE7-095ABED19984}"/>
              </a:ext>
            </a:extLst>
          </p:cNvPr>
          <p:cNvSpPr/>
          <p:nvPr/>
        </p:nvSpPr>
        <p:spPr>
          <a:xfrm>
            <a:off x="276058" y="2229982"/>
            <a:ext cx="541195" cy="48282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LID4096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8E77D1E-2001-C4B6-C83A-2A81872151E0}"/>
              </a:ext>
            </a:extLst>
          </p:cNvPr>
          <p:cNvSpPr/>
          <p:nvPr/>
        </p:nvSpPr>
        <p:spPr>
          <a:xfrm>
            <a:off x="517858" y="2979119"/>
            <a:ext cx="541195" cy="48282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LID4096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FBFD14D-8CDF-40E8-FAEB-F4221F79DF58}"/>
              </a:ext>
            </a:extLst>
          </p:cNvPr>
          <p:cNvSpPr/>
          <p:nvPr/>
        </p:nvSpPr>
        <p:spPr>
          <a:xfrm>
            <a:off x="838900" y="3728321"/>
            <a:ext cx="541195" cy="48282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LID4096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4ACC668-9D48-DA14-FFB1-A1C09332460B}"/>
              </a:ext>
            </a:extLst>
          </p:cNvPr>
          <p:cNvSpPr/>
          <p:nvPr/>
        </p:nvSpPr>
        <p:spPr>
          <a:xfrm>
            <a:off x="1214178" y="4469174"/>
            <a:ext cx="541195" cy="48282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  <a:endParaRPr kumimoji="0" lang="LID4096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261D969-6FD0-865F-04E6-2B83B3941846}"/>
              </a:ext>
            </a:extLst>
          </p:cNvPr>
          <p:cNvSpPr/>
          <p:nvPr/>
        </p:nvSpPr>
        <p:spPr>
          <a:xfrm>
            <a:off x="1668605" y="5210027"/>
            <a:ext cx="541195" cy="48282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  <a:endParaRPr kumimoji="0" lang="LID4096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EBEA870-536C-E592-F83A-B744E7A11792}"/>
              </a:ext>
            </a:extLst>
          </p:cNvPr>
          <p:cNvSpPr/>
          <p:nvPr/>
        </p:nvSpPr>
        <p:spPr>
          <a:xfrm>
            <a:off x="2049704" y="4383505"/>
            <a:ext cx="5855974" cy="55716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DE" altLang="en-DE" dirty="0">
                <a:solidFill>
                  <a:schemeClr val="tx1"/>
                </a:solidFill>
              </a:rPr>
              <a:t>ML reduces human guesswork and increases profit potential</a:t>
            </a:r>
          </a:p>
        </p:txBody>
      </p:sp>
      <p:pic>
        <p:nvPicPr>
          <p:cNvPr id="2051" name="Picture 3">
            <a:extLst>
              <a:ext uri="{FF2B5EF4-FFF2-40B4-BE49-F238E27FC236}">
                <a16:creationId xmlns:a16="http://schemas.microsoft.com/office/drawing/2014/main" id="{838B9613-B8A4-F852-242B-00B926F605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422" y="1318615"/>
            <a:ext cx="4414520" cy="2120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E6744C8F-F838-715C-E793-4BB2FEE1F717}"/>
              </a:ext>
            </a:extLst>
          </p:cNvPr>
          <p:cNvSpPr txBox="1"/>
          <p:nvPr/>
        </p:nvSpPr>
        <p:spPr>
          <a:xfrm>
            <a:off x="7824002" y="3484009"/>
            <a:ext cx="3793258" cy="244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Reference: </a:t>
            </a:r>
            <a:r>
              <a:rPr lang="en-US" sz="1000" dirty="0">
                <a:hlinkClick r:id="rId5"/>
              </a:rPr>
              <a:t>https://www.vecteezy.com/free-photos/machine-learning</a:t>
            </a:r>
            <a:r>
              <a:rPr lang="en-US" sz="1000" dirty="0"/>
              <a:t> </a:t>
            </a:r>
            <a:endParaRPr lang="en-DE" sz="1000" dirty="0"/>
          </a:p>
        </p:txBody>
      </p:sp>
    </p:spTree>
    <p:extLst>
      <p:ext uri="{BB962C8B-B14F-4D97-AF65-F5344CB8AC3E}">
        <p14:creationId xmlns:p14="http://schemas.microsoft.com/office/powerpoint/2010/main" val="2106249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9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AC08E-7F36-CB15-E414-CB782C04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01D7D-CBC8-29FA-E6FE-2A58B57B9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65" y="235576"/>
            <a:ext cx="10515600" cy="839755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References</a:t>
            </a:r>
            <a:endParaRPr lang="en-IN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184AD1-DC46-BA3B-D13F-2445EAC047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98" y="-104177"/>
            <a:ext cx="2511357" cy="1412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E1D04C0-D241-58AA-D09C-954B48A9746B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098EF98-EE70-99B4-00DA-F28D718F9A65}"/>
              </a:ext>
            </a:extLst>
          </p:cNvPr>
          <p:cNvCxnSpPr>
            <a:cxnSpLocks/>
          </p:cNvCxnSpPr>
          <p:nvPr/>
        </p:nvCxnSpPr>
        <p:spPr>
          <a:xfrm>
            <a:off x="0" y="1183609"/>
            <a:ext cx="12192000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7FA929B9-3BAC-89F3-E3E1-98C911541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257E0-A100-4250-97F9-3E5E02DD86B0}" type="datetime1">
              <a:rPr lang="en-IN" smtClean="0">
                <a:solidFill>
                  <a:schemeClr val="tx1"/>
                </a:solidFill>
              </a:rPr>
              <a:t>25-12-2025</a:t>
            </a:fld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7E8EC4F-1829-2D36-DE3E-6BA0B8826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687761-FC87-4A57-BD27-270B4C7228C2}" type="slidenum">
              <a:rPr lang="en-IN" smtClean="0">
                <a:solidFill>
                  <a:schemeClr val="tx1"/>
                </a:solidFill>
              </a:rPr>
              <a:t>8</a:t>
            </a:fld>
            <a:endParaRPr lang="en-IN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5CD8E4-635C-2836-9570-FEAC9DCB2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0973" y="31395"/>
            <a:ext cx="1904503" cy="1058057"/>
          </a:xfrm>
          <a:prstGeom prst="rect">
            <a:avLst/>
          </a:prstGeom>
        </p:spPr>
      </p:pic>
      <p:sp>
        <p:nvSpPr>
          <p:cNvPr id="11" name="Footer Placeholder 1">
            <a:extLst>
              <a:ext uri="{FF2B5EF4-FFF2-40B4-BE49-F238E27FC236}">
                <a16:creationId xmlns:a16="http://schemas.microsoft.com/office/drawing/2014/main" id="{E850E8BC-E362-3812-20A6-400F942A9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14980" y="6472294"/>
            <a:ext cx="6162040" cy="269761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Power Prediction and Energy Arbitrage Modeling for Wind Farms Using ML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9E7D12-89E9-533C-631D-F78DC24F9F5B}"/>
              </a:ext>
            </a:extLst>
          </p:cNvPr>
          <p:cNvSpPr txBox="1"/>
          <p:nvPr/>
        </p:nvSpPr>
        <p:spPr>
          <a:xfrm>
            <a:off x="229098" y="1277767"/>
            <a:ext cx="1165810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4"/>
              </a:rPr>
              <a:t>https://www.nsenergybusiness.com/projects/reusenkoge-wind-farm-expansion/?cf-view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5"/>
              </a:rPr>
              <a:t>https://en.wind-turbine-models.com/turbines/693-vestas-v112-3.3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47873372"/>
      </p:ext>
    </p:extLst>
  </p:cSld>
  <p:clrMapOvr>
    <a:masterClrMapping/>
  </p:clrMapOvr>
</p:sld>
</file>

<file path=ppt/theme/theme1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555</Words>
  <Application>Microsoft Office PowerPoint</Application>
  <PresentationFormat>Widescreen</PresentationFormat>
  <Paragraphs>101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Wingdings</vt:lpstr>
      <vt:lpstr>1_Custom Design</vt:lpstr>
      <vt:lpstr>Custom Design</vt:lpstr>
      <vt:lpstr>PowerPoint Presentation</vt:lpstr>
      <vt:lpstr>Overview</vt:lpstr>
      <vt:lpstr>1. Introduction</vt:lpstr>
      <vt:lpstr>2. Problem Statements</vt:lpstr>
      <vt:lpstr>3. Data and Preprocessing</vt:lpstr>
      <vt:lpstr>4. Flowchart</vt:lpstr>
      <vt:lpstr>5. Machine Learning Models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karan soni</dc:creator>
  <cp:lastModifiedBy>Karan Soni</cp:lastModifiedBy>
  <cp:revision>329</cp:revision>
  <dcterms:created xsi:type="dcterms:W3CDTF">2023-05-10T09:31:16Z</dcterms:created>
  <dcterms:modified xsi:type="dcterms:W3CDTF">2025-12-25T23:39:46Z</dcterms:modified>
</cp:coreProperties>
</file>